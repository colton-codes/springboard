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
      <p:font typeface="Pacifico"/>
      <p:regular r:id="rId20"/>
    </p:embeddedFont>
    <p:embeddedFont>
      <p:font typeface="David Libre"/>
      <p:regular r:id="rId21"/>
      <p:bold r:id="rId22"/>
    </p:embeddedFont>
    <p:embeddedFont>
      <p:font typeface="Taviraj"/>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acifico-regular.fntdata"/><Relationship Id="rId22" Type="http://schemas.openxmlformats.org/officeDocument/2006/relationships/font" Target="fonts/DavidLibre-bold.fntdata"/><Relationship Id="rId21" Type="http://schemas.openxmlformats.org/officeDocument/2006/relationships/font" Target="fonts/DavidLibre-regular.fntdata"/><Relationship Id="rId24" Type="http://schemas.openxmlformats.org/officeDocument/2006/relationships/font" Target="fonts/Taviraj-bold.fntdata"/><Relationship Id="rId23" Type="http://schemas.openxmlformats.org/officeDocument/2006/relationships/font" Target="fonts/Taviraj-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aviraj-boldItalic.fntdata"/><Relationship Id="rId25" Type="http://schemas.openxmlformats.org/officeDocument/2006/relationships/font" Target="fonts/Taviraj-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e470d_0_1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c6f9e470d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c6f9e47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c6f9e470d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c6f9e470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c6f9e470d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c6f9e470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6f9e470d_0_4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6f9e470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562be7a0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5562be7a0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562be7a0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5562be7a0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5562be7a0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5562be7a0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562be7a0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5562be7a0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562be7a0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5562be7a0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title"/>
          </p:nvPr>
        </p:nvSpPr>
        <p:spPr>
          <a:xfrm>
            <a:off x="295825" y="17895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800">
                <a:latin typeface="Pacifico"/>
                <a:ea typeface="Pacifico"/>
                <a:cs typeface="Pacifico"/>
                <a:sym typeface="Pacifico"/>
              </a:rPr>
              <a:t>Dataset Analysis of Island Effect Studies</a:t>
            </a:r>
            <a:endParaRPr sz="3800">
              <a:latin typeface="Pacifico"/>
              <a:ea typeface="Pacifico"/>
              <a:cs typeface="Pacifico"/>
              <a:sym typeface="Pacifico"/>
            </a:endParaRPr>
          </a:p>
        </p:txBody>
      </p:sp>
      <p:sp>
        <p:nvSpPr>
          <p:cNvPr id="86" name="Google Shape;86;p13"/>
          <p:cNvSpPr txBox="1"/>
          <p:nvPr>
            <p:ph idx="1" type="subTitle"/>
          </p:nvPr>
        </p:nvSpPr>
        <p:spPr>
          <a:xfrm>
            <a:off x="295825" y="3393751"/>
            <a:ext cx="4045200" cy="1269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aviraj"/>
                <a:ea typeface="Taviraj"/>
                <a:cs typeface="Taviraj"/>
                <a:sym typeface="Taviraj"/>
              </a:rPr>
              <a:t>By Colton Augustine</a:t>
            </a:r>
            <a:endParaRPr>
              <a:latin typeface="Taviraj"/>
              <a:ea typeface="Taviraj"/>
              <a:cs typeface="Taviraj"/>
              <a:sym typeface="Taviraj"/>
            </a:endParaRPr>
          </a:p>
        </p:txBody>
      </p:sp>
      <p:pic>
        <p:nvPicPr>
          <p:cNvPr id="87" name="Google Shape;87;p13" title="131350.jpg"/>
          <p:cNvPicPr preferRelativeResize="0"/>
          <p:nvPr/>
        </p:nvPicPr>
        <p:blipFill>
          <a:blip r:embed="rId3">
            <a:alphaModFix/>
          </a:blip>
          <a:stretch>
            <a:fillRect/>
          </a:stretch>
        </p:blipFill>
        <p:spPr>
          <a:xfrm>
            <a:off x="5033150" y="1310125"/>
            <a:ext cx="3685898" cy="26060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aviraj"/>
                <a:ea typeface="Taviraj"/>
                <a:cs typeface="Taviraj"/>
                <a:sym typeface="Taviraj"/>
              </a:rPr>
              <a:t>The Problem of Island Effects</a:t>
            </a:r>
            <a:endParaRPr>
              <a:latin typeface="Taviraj"/>
              <a:ea typeface="Taviraj"/>
              <a:cs typeface="Taviraj"/>
              <a:sym typeface="Taviraj"/>
            </a:endParaRPr>
          </a:p>
        </p:txBody>
      </p:sp>
      <p:grpSp>
        <p:nvGrpSpPr>
          <p:cNvPr id="93" name="Google Shape;93;p14"/>
          <p:cNvGrpSpPr/>
          <p:nvPr/>
        </p:nvGrpSpPr>
        <p:grpSpPr>
          <a:xfrm>
            <a:off x="431925" y="1304875"/>
            <a:ext cx="2628925" cy="3416400"/>
            <a:chOff x="431925" y="1304875"/>
            <a:chExt cx="2628925" cy="3416400"/>
          </a:xfrm>
        </p:grpSpPr>
        <p:sp>
          <p:nvSpPr>
            <p:cNvPr id="94" name="Google Shape;94;p14"/>
            <p:cNvSpPr txBox="1"/>
            <p:nvPr/>
          </p:nvSpPr>
          <p:spPr>
            <a:xfrm>
              <a:off x="431925"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14"/>
          <p:cNvSpPr txBox="1"/>
          <p:nvPr>
            <p:ph idx="4294967295" type="body"/>
          </p:nvPr>
        </p:nvSpPr>
        <p:spPr>
          <a:xfrm>
            <a:off x="50642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rPr>
              <a:t>What is an Island Effect?</a:t>
            </a:r>
            <a:endParaRPr sz="1600">
              <a:solidFill>
                <a:schemeClr val="lt1"/>
              </a:solidFill>
            </a:endParaRPr>
          </a:p>
        </p:txBody>
      </p:sp>
      <p:sp>
        <p:nvSpPr>
          <p:cNvPr id="97" name="Google Shape;97;p14"/>
          <p:cNvSpPr txBox="1"/>
          <p:nvPr>
            <p:ph idx="4294967295" type="body"/>
          </p:nvPr>
        </p:nvSpPr>
        <p:spPr>
          <a:xfrm>
            <a:off x="126200" y="1850300"/>
            <a:ext cx="2830500" cy="2794800"/>
          </a:xfrm>
          <a:prstGeom prst="rect">
            <a:avLst/>
          </a:prstGeom>
        </p:spPr>
        <p:txBody>
          <a:bodyPr anchorCtr="0" anchor="t" bIns="91425" lIns="91425" spcFirstLastPara="1" rIns="91425" wrap="square" tIns="91425">
            <a:noAutofit/>
          </a:bodyPr>
          <a:lstStyle/>
          <a:p>
            <a:pPr indent="0" lvl="0" marL="457200" rtl="0" algn="l">
              <a:spcBef>
                <a:spcPts val="0"/>
              </a:spcBef>
              <a:spcAft>
                <a:spcPts val="1600"/>
              </a:spcAft>
              <a:buNone/>
            </a:pPr>
            <a:r>
              <a:rPr lang="en" sz="1600">
                <a:solidFill>
                  <a:srgbClr val="000000"/>
                </a:solidFill>
                <a:latin typeface="David Libre"/>
                <a:ea typeface="David Libre"/>
                <a:cs typeface="David Libre"/>
                <a:sym typeface="David Libre"/>
              </a:rPr>
              <a:t>A syntactic island arises from wh-movement when a clause remains in its original position in the sentence, now maintaining a long distance syntactic dependency with the wh-particle</a:t>
            </a:r>
            <a:endParaRPr sz="1600">
              <a:solidFill>
                <a:srgbClr val="000000"/>
              </a:solidFill>
              <a:latin typeface="David Libre"/>
              <a:ea typeface="David Libre"/>
              <a:cs typeface="David Libre"/>
              <a:sym typeface="David Libre"/>
            </a:endParaRPr>
          </a:p>
        </p:txBody>
      </p:sp>
      <p:grpSp>
        <p:nvGrpSpPr>
          <p:cNvPr id="98" name="Google Shape;98;p14"/>
          <p:cNvGrpSpPr/>
          <p:nvPr/>
        </p:nvGrpSpPr>
        <p:grpSpPr>
          <a:xfrm>
            <a:off x="3320450" y="1304875"/>
            <a:ext cx="2632500" cy="3416400"/>
            <a:chOff x="3320450" y="1304875"/>
            <a:chExt cx="2632500" cy="3416400"/>
          </a:xfrm>
        </p:grpSpPr>
        <p:sp>
          <p:nvSpPr>
            <p:cNvPr id="99" name="Google Shape;99;p14"/>
            <p:cNvSpPr txBox="1"/>
            <p:nvPr/>
          </p:nvSpPr>
          <p:spPr>
            <a:xfrm>
              <a:off x="3324050"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33204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 name="Google Shape;101;p14"/>
          <p:cNvSpPr txBox="1"/>
          <p:nvPr>
            <p:ph idx="4294967295" type="body"/>
          </p:nvPr>
        </p:nvSpPr>
        <p:spPr>
          <a:xfrm>
            <a:off x="3389450"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rPr>
              <a:t>Example</a:t>
            </a:r>
            <a:endParaRPr sz="1600">
              <a:solidFill>
                <a:schemeClr val="lt1"/>
              </a:solidFill>
            </a:endParaRPr>
          </a:p>
        </p:txBody>
      </p:sp>
      <p:sp>
        <p:nvSpPr>
          <p:cNvPr id="102" name="Google Shape;102;p14"/>
          <p:cNvSpPr txBox="1"/>
          <p:nvPr>
            <p:ph idx="4294967295" type="body"/>
          </p:nvPr>
        </p:nvSpPr>
        <p:spPr>
          <a:xfrm>
            <a:off x="3396775"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latin typeface="David Libre"/>
                <a:ea typeface="David Libre"/>
                <a:cs typeface="David Libre"/>
                <a:sym typeface="David Libre"/>
              </a:rPr>
              <a:t>Deep structure:</a:t>
            </a:r>
            <a:endParaRPr sz="1600">
              <a:solidFill>
                <a:srgbClr val="000000"/>
              </a:solidFill>
              <a:latin typeface="David Libre"/>
              <a:ea typeface="David Libre"/>
              <a:cs typeface="David Libre"/>
              <a:sym typeface="David Libre"/>
            </a:endParaRPr>
          </a:p>
          <a:p>
            <a:pPr indent="0" lvl="0" marL="0" rtl="0" algn="l">
              <a:spcBef>
                <a:spcPts val="1600"/>
              </a:spcBef>
              <a:spcAft>
                <a:spcPts val="0"/>
              </a:spcAft>
              <a:buNone/>
            </a:pPr>
            <a:r>
              <a:rPr lang="en" sz="1600">
                <a:solidFill>
                  <a:srgbClr val="000000"/>
                </a:solidFill>
                <a:latin typeface="David Libre"/>
                <a:ea typeface="David Libre"/>
                <a:cs typeface="David Libre"/>
                <a:sym typeface="David Libre"/>
              </a:rPr>
              <a:t> The accountant did scream when Kerry fired *Who*? —&gt;</a:t>
            </a:r>
            <a:endParaRPr sz="1600">
              <a:solidFill>
                <a:srgbClr val="000000"/>
              </a:solidFill>
              <a:latin typeface="David Libre"/>
              <a:ea typeface="David Libre"/>
              <a:cs typeface="David Libre"/>
              <a:sym typeface="David Libre"/>
            </a:endParaRPr>
          </a:p>
          <a:p>
            <a:pPr indent="0" lvl="0" marL="0" rtl="0" algn="l">
              <a:spcBef>
                <a:spcPts val="1600"/>
              </a:spcBef>
              <a:spcAft>
                <a:spcPts val="1600"/>
              </a:spcAft>
              <a:buNone/>
            </a:pPr>
            <a:r>
              <a:rPr lang="en" sz="1600">
                <a:solidFill>
                  <a:srgbClr val="000000"/>
                </a:solidFill>
                <a:latin typeface="David Libre"/>
                <a:ea typeface="David Libre"/>
                <a:cs typeface="David Libre"/>
                <a:sym typeface="David Libre"/>
              </a:rPr>
              <a:t>*Who did the accountant scream when Kerry fired? </a:t>
            </a:r>
            <a:endParaRPr sz="1600">
              <a:solidFill>
                <a:srgbClr val="000000"/>
              </a:solidFill>
              <a:latin typeface="David Libre"/>
              <a:ea typeface="David Libre"/>
              <a:cs typeface="David Libre"/>
              <a:sym typeface="David Libre"/>
            </a:endParaRPr>
          </a:p>
        </p:txBody>
      </p:sp>
      <p:grpSp>
        <p:nvGrpSpPr>
          <p:cNvPr id="103" name="Google Shape;103;p14"/>
          <p:cNvGrpSpPr/>
          <p:nvPr/>
        </p:nvGrpSpPr>
        <p:grpSpPr>
          <a:xfrm>
            <a:off x="6212550" y="1304875"/>
            <a:ext cx="2632500" cy="3416400"/>
            <a:chOff x="6212550" y="1304875"/>
            <a:chExt cx="2632500" cy="3416400"/>
          </a:xfrm>
        </p:grpSpPr>
        <p:sp>
          <p:nvSpPr>
            <p:cNvPr id="104" name="Google Shape;104;p14"/>
            <p:cNvSpPr/>
            <p:nvPr/>
          </p:nvSpPr>
          <p:spPr>
            <a:xfrm>
              <a:off x="621540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txBox="1"/>
            <p:nvPr/>
          </p:nvSpPr>
          <p:spPr>
            <a:xfrm>
              <a:off x="6212550" y="1304875"/>
              <a:ext cx="26325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14"/>
          <p:cNvSpPr txBox="1"/>
          <p:nvPr>
            <p:ph idx="4294967295" type="body"/>
          </p:nvPr>
        </p:nvSpPr>
        <p:spPr>
          <a:xfrm>
            <a:off x="6270450" y="1304875"/>
            <a:ext cx="25620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rPr>
              <a:t>Why is this Worth Studying?</a:t>
            </a:r>
            <a:endParaRPr sz="1500">
              <a:solidFill>
                <a:schemeClr val="lt1"/>
              </a:solidFill>
            </a:endParaRPr>
          </a:p>
        </p:txBody>
      </p:sp>
      <p:sp>
        <p:nvSpPr>
          <p:cNvPr id="107" name="Google Shape;107;p14"/>
          <p:cNvSpPr txBox="1"/>
          <p:nvPr>
            <p:ph idx="4294967295" type="body"/>
          </p:nvPr>
        </p:nvSpPr>
        <p:spPr>
          <a:xfrm>
            <a:off x="6286400"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latin typeface="David Libre"/>
                <a:ea typeface="David Libre"/>
                <a:cs typeface="David Libre"/>
                <a:sym typeface="David Libre"/>
              </a:rPr>
              <a:t>Island effects are a controversial problem in syntax, especially in syntactic processing within psycholinguistics, as they are found throughout human language and can be used as a test case in the processing vs. grammar debate. </a:t>
            </a:r>
            <a:endParaRPr sz="1600">
              <a:solidFill>
                <a:srgbClr val="000000"/>
              </a:solidFill>
              <a:latin typeface="David Libre"/>
              <a:ea typeface="David Libre"/>
              <a:cs typeface="David Libre"/>
              <a:sym typeface="David Libre"/>
            </a:endParaRPr>
          </a:p>
          <a:p>
            <a:pPr indent="0" lvl="0" marL="0" rtl="0" algn="l">
              <a:spcBef>
                <a:spcPts val="1600"/>
              </a:spcBef>
              <a:spcAft>
                <a:spcPts val="0"/>
              </a:spcAft>
              <a:buNone/>
            </a:pPr>
            <a:r>
              <a:t/>
            </a:r>
            <a:endParaRPr sz="1600">
              <a:solidFill>
                <a:srgbClr val="000000"/>
              </a:solidFill>
              <a:latin typeface="David Libre"/>
              <a:ea typeface="David Libre"/>
              <a:cs typeface="David Libre"/>
              <a:sym typeface="David Libre"/>
            </a:endParaRPr>
          </a:p>
          <a:p>
            <a:pPr indent="0" lvl="0" marL="0" rtl="0" algn="l">
              <a:spcBef>
                <a:spcPts val="1600"/>
              </a:spcBef>
              <a:spcAft>
                <a:spcPts val="1600"/>
              </a:spcAft>
              <a:buNone/>
            </a:pPr>
            <a:r>
              <a:t/>
            </a:r>
            <a:endParaRPr sz="1600">
              <a:solidFill>
                <a:srgbClr val="000000"/>
              </a:solidFill>
              <a:latin typeface="David Libre"/>
              <a:ea typeface="David Libre"/>
              <a:cs typeface="David Libre"/>
              <a:sym typeface="David Libr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latin typeface="Taviraj"/>
                <a:ea typeface="Taviraj"/>
                <a:cs typeface="Taviraj"/>
                <a:sym typeface="Taviraj"/>
              </a:rPr>
              <a:t>From Sprouse et al. (2012) to our Study Design</a:t>
            </a:r>
            <a:endParaRPr sz="2800">
              <a:latin typeface="Taviraj"/>
              <a:ea typeface="Taviraj"/>
              <a:cs typeface="Taviraj"/>
              <a:sym typeface="Taviraj"/>
            </a:endParaRPr>
          </a:p>
        </p:txBody>
      </p:sp>
      <p:sp>
        <p:nvSpPr>
          <p:cNvPr id="113" name="Google Shape;113;p15"/>
          <p:cNvSpPr/>
          <p:nvPr/>
        </p:nvSpPr>
        <p:spPr>
          <a:xfrm>
            <a:off x="432350" y="1304875"/>
            <a:ext cx="2469300" cy="607800"/>
          </a:xfrm>
          <a:prstGeom prst="homePlate">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4" name="Google Shape;114;p15"/>
          <p:cNvSpPr txBox="1"/>
          <p:nvPr>
            <p:ph idx="4294967295" type="body"/>
          </p:nvPr>
        </p:nvSpPr>
        <p:spPr>
          <a:xfrm>
            <a:off x="432350" y="1451576"/>
            <a:ext cx="2257200" cy="314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600">
                <a:solidFill>
                  <a:schemeClr val="lt1"/>
                </a:solidFill>
              </a:rPr>
              <a:t>Sprouse’s Study Design</a:t>
            </a:r>
            <a:endParaRPr sz="1600">
              <a:solidFill>
                <a:schemeClr val="lt1"/>
              </a:solidFill>
            </a:endParaRPr>
          </a:p>
        </p:txBody>
      </p:sp>
      <p:sp>
        <p:nvSpPr>
          <p:cNvPr id="115" name="Google Shape;115;p15"/>
          <p:cNvSpPr txBox="1"/>
          <p:nvPr>
            <p:ph idx="4294967295" type="body"/>
          </p:nvPr>
        </p:nvSpPr>
        <p:spPr>
          <a:xfrm>
            <a:off x="432350" y="2070575"/>
            <a:ext cx="2471700" cy="265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David Libre"/>
                <a:ea typeface="David Libre"/>
                <a:cs typeface="David Libre"/>
                <a:sym typeface="David Libre"/>
              </a:rPr>
              <a:t>Dependent Variable is acceptability judgements on the Likert Scale </a:t>
            </a:r>
            <a:endParaRPr sz="1600">
              <a:latin typeface="David Libre"/>
              <a:ea typeface="David Libre"/>
              <a:cs typeface="David Libre"/>
              <a:sym typeface="David Libre"/>
            </a:endParaRPr>
          </a:p>
          <a:p>
            <a:pPr indent="0" lvl="0" marL="0" rtl="0" algn="l">
              <a:spcBef>
                <a:spcPts val="800"/>
              </a:spcBef>
              <a:spcAft>
                <a:spcPts val="0"/>
              </a:spcAft>
              <a:buNone/>
            </a:pPr>
            <a:r>
              <a:rPr lang="en" sz="1600">
                <a:latin typeface="David Libre"/>
                <a:ea typeface="David Libre"/>
                <a:cs typeface="David Libre"/>
                <a:sym typeface="David Libre"/>
              </a:rPr>
              <a:t>2 x 2 Factorial Design</a:t>
            </a:r>
            <a:endParaRPr sz="1600">
              <a:latin typeface="David Libre"/>
              <a:ea typeface="David Libre"/>
              <a:cs typeface="David Libre"/>
              <a:sym typeface="David Libre"/>
            </a:endParaRPr>
          </a:p>
          <a:p>
            <a:pPr indent="-330200" lvl="0" marL="457200" rtl="0" algn="l">
              <a:spcBef>
                <a:spcPts val="800"/>
              </a:spcBef>
              <a:spcAft>
                <a:spcPts val="0"/>
              </a:spcAft>
              <a:buSzPts val="1600"/>
              <a:buFont typeface="David Libre"/>
              <a:buChar char="●"/>
            </a:pPr>
            <a:r>
              <a:rPr lang="en" sz="1600">
                <a:latin typeface="David Libre"/>
                <a:ea typeface="David Libre"/>
                <a:cs typeface="David Libre"/>
                <a:sym typeface="David Libre"/>
              </a:rPr>
              <a:t>The first factor is Island vs Non-island</a:t>
            </a:r>
            <a:endParaRPr sz="1600">
              <a:latin typeface="David Libre"/>
              <a:ea typeface="David Libre"/>
              <a:cs typeface="David Libre"/>
              <a:sym typeface="David Libre"/>
            </a:endParaRPr>
          </a:p>
          <a:p>
            <a:pPr indent="-330200" lvl="0" marL="457200" rtl="0" algn="l">
              <a:spcBef>
                <a:spcPts val="0"/>
              </a:spcBef>
              <a:spcAft>
                <a:spcPts val="0"/>
              </a:spcAft>
              <a:buSzPts val="1600"/>
              <a:buFont typeface="David Libre"/>
              <a:buChar char="●"/>
            </a:pPr>
            <a:r>
              <a:rPr lang="en" sz="1600">
                <a:latin typeface="David Libre"/>
                <a:ea typeface="David Libre"/>
                <a:cs typeface="David Libre"/>
                <a:sym typeface="David Libre"/>
              </a:rPr>
              <a:t>Second factor is Matrix vs Embedded</a:t>
            </a:r>
            <a:endParaRPr sz="1600">
              <a:latin typeface="David Libre"/>
              <a:ea typeface="David Libre"/>
              <a:cs typeface="David Libre"/>
              <a:sym typeface="David Libre"/>
            </a:endParaRPr>
          </a:p>
        </p:txBody>
      </p:sp>
      <p:sp>
        <p:nvSpPr>
          <p:cNvPr id="116" name="Google Shape;116;p15"/>
          <p:cNvSpPr/>
          <p:nvPr/>
        </p:nvSpPr>
        <p:spPr>
          <a:xfrm>
            <a:off x="3044777"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7" name="Google Shape;117;p15"/>
          <p:cNvSpPr txBox="1"/>
          <p:nvPr>
            <p:ph idx="4294967295" type="body"/>
          </p:nvPr>
        </p:nvSpPr>
        <p:spPr>
          <a:xfrm>
            <a:off x="3336150" y="1451576"/>
            <a:ext cx="2257200" cy="314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Modifications</a:t>
            </a:r>
            <a:endParaRPr>
              <a:solidFill>
                <a:schemeClr val="lt1"/>
              </a:solidFill>
            </a:endParaRPr>
          </a:p>
        </p:txBody>
      </p:sp>
      <p:sp>
        <p:nvSpPr>
          <p:cNvPr id="118" name="Google Shape;118;p15"/>
          <p:cNvSpPr txBox="1"/>
          <p:nvPr>
            <p:ph idx="4294967295" type="body"/>
          </p:nvPr>
        </p:nvSpPr>
        <p:spPr>
          <a:xfrm>
            <a:off x="3336150" y="1992300"/>
            <a:ext cx="2612400" cy="272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David Libre"/>
                <a:ea typeface="David Libre"/>
                <a:cs typeface="David Libre"/>
                <a:sym typeface="David Libre"/>
              </a:rPr>
              <a:t>Whether vs. Adjunct</a:t>
            </a:r>
            <a:endParaRPr b="1" sz="1600">
              <a:latin typeface="David Libre"/>
              <a:ea typeface="David Libre"/>
              <a:cs typeface="David Libre"/>
              <a:sym typeface="David Libre"/>
            </a:endParaRPr>
          </a:p>
          <a:p>
            <a:pPr indent="0" lvl="0" marL="0" rtl="0" algn="l">
              <a:spcBef>
                <a:spcPts val="800"/>
              </a:spcBef>
              <a:spcAft>
                <a:spcPts val="800"/>
              </a:spcAft>
              <a:buNone/>
            </a:pPr>
            <a:r>
              <a:rPr lang="en" sz="1600">
                <a:latin typeface="David Libre"/>
                <a:ea typeface="David Libre"/>
                <a:cs typeface="David Libre"/>
                <a:sym typeface="David Libre"/>
              </a:rPr>
              <a:t>Our experiment maintains the Likert Scale and Factorial Design, however we narrowed the focus to comparing two specific types of island effects in English. Sprouse also tested working memory of participants, which we did not.</a:t>
            </a:r>
            <a:endParaRPr sz="1600">
              <a:latin typeface="David Libre"/>
              <a:ea typeface="David Libre"/>
              <a:cs typeface="David Libre"/>
              <a:sym typeface="David Libre"/>
            </a:endParaRPr>
          </a:p>
        </p:txBody>
      </p:sp>
      <p:sp>
        <p:nvSpPr>
          <p:cNvPr id="119" name="Google Shape;119;p15"/>
          <p:cNvSpPr/>
          <p:nvPr/>
        </p:nvSpPr>
        <p:spPr>
          <a:xfrm>
            <a:off x="5948502"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0" name="Google Shape;120;p15"/>
          <p:cNvSpPr txBox="1"/>
          <p:nvPr>
            <p:ph idx="4294967295" type="body"/>
          </p:nvPr>
        </p:nvSpPr>
        <p:spPr>
          <a:xfrm>
            <a:off x="6254233" y="1451576"/>
            <a:ext cx="2257200" cy="314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Our Dataset</a:t>
            </a:r>
            <a:endParaRPr>
              <a:solidFill>
                <a:schemeClr val="lt1"/>
              </a:solidFill>
            </a:endParaRPr>
          </a:p>
        </p:txBody>
      </p:sp>
      <p:sp>
        <p:nvSpPr>
          <p:cNvPr id="121" name="Google Shape;121;p15"/>
          <p:cNvSpPr txBox="1"/>
          <p:nvPr>
            <p:ph idx="4294967295" type="body"/>
          </p:nvPr>
        </p:nvSpPr>
        <p:spPr>
          <a:xfrm>
            <a:off x="6254226" y="2070575"/>
            <a:ext cx="2471700" cy="2650800"/>
          </a:xfrm>
          <a:prstGeom prst="rect">
            <a:avLst/>
          </a:prstGeom>
        </p:spPr>
        <p:txBody>
          <a:bodyPr anchorCtr="0" anchor="t" bIns="91425" lIns="91425" spcFirstLastPara="1" rIns="91425" wrap="square" tIns="91425">
            <a:noAutofit/>
          </a:bodyPr>
          <a:lstStyle/>
          <a:p>
            <a:pPr indent="0" lvl="0" marL="0" rtl="0" algn="ctr">
              <a:spcBef>
                <a:spcPts val="0"/>
              </a:spcBef>
              <a:spcAft>
                <a:spcPts val="800"/>
              </a:spcAft>
              <a:buNone/>
            </a:pPr>
            <a:r>
              <a:rPr lang="en" sz="1400"/>
              <a:t>The data set then consists of 8 different combinations of factors and categories.                    </a:t>
            </a:r>
            <a:r>
              <a:rPr lang="en" sz="900"/>
              <a:t>Table 1</a:t>
            </a:r>
            <a:endParaRPr sz="900"/>
          </a:p>
        </p:txBody>
      </p:sp>
      <p:pic>
        <p:nvPicPr>
          <p:cNvPr id="122" name="Google Shape;122;p15"/>
          <p:cNvPicPr preferRelativeResize="0"/>
          <p:nvPr/>
        </p:nvPicPr>
        <p:blipFill>
          <a:blip r:embed="rId3">
            <a:alphaModFix/>
          </a:blip>
          <a:stretch>
            <a:fillRect/>
          </a:stretch>
        </p:blipFill>
        <p:spPr>
          <a:xfrm>
            <a:off x="6305562" y="3086002"/>
            <a:ext cx="2046475" cy="1853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aviraj"/>
                <a:ea typeface="Taviraj"/>
                <a:cs typeface="Taviraj"/>
                <a:sym typeface="Taviraj"/>
              </a:rPr>
              <a:t>Sprouse’s Tests					What We Will Run</a:t>
            </a:r>
            <a:endParaRPr>
              <a:latin typeface="Taviraj"/>
              <a:ea typeface="Taviraj"/>
              <a:cs typeface="Taviraj"/>
              <a:sym typeface="Taviraj"/>
            </a:endParaRPr>
          </a:p>
        </p:txBody>
      </p:sp>
      <p:sp>
        <p:nvSpPr>
          <p:cNvPr id="128" name="Google Shape;128;p16"/>
          <p:cNvSpPr txBox="1"/>
          <p:nvPr>
            <p:ph idx="1" type="body"/>
          </p:nvPr>
        </p:nvSpPr>
        <p:spPr>
          <a:xfrm>
            <a:off x="311700" y="1229975"/>
            <a:ext cx="35265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David Libre"/>
                <a:ea typeface="David Libre"/>
                <a:cs typeface="David Libre"/>
                <a:sym typeface="David Libre"/>
              </a:rPr>
              <a:t>In their analysis of the data, Sprouse and his team do a few key things:</a:t>
            </a:r>
            <a:endParaRPr>
              <a:solidFill>
                <a:srgbClr val="000000"/>
              </a:solidFill>
              <a:latin typeface="David Libre"/>
              <a:ea typeface="David Libre"/>
              <a:cs typeface="David Libre"/>
              <a:sym typeface="David Libre"/>
            </a:endParaRPr>
          </a:p>
          <a:p>
            <a:pPr indent="-317500" lvl="0" marL="457200" rtl="0" algn="l">
              <a:spcBef>
                <a:spcPts val="1600"/>
              </a:spcBef>
              <a:spcAft>
                <a:spcPts val="0"/>
              </a:spcAft>
              <a:buClr>
                <a:srgbClr val="000000"/>
              </a:buClr>
              <a:buSzPts val="1400"/>
              <a:buFont typeface="David Libre"/>
              <a:buChar char="●"/>
            </a:pPr>
            <a:r>
              <a:rPr lang="en">
                <a:solidFill>
                  <a:srgbClr val="000000"/>
                </a:solidFill>
                <a:latin typeface="David Libre"/>
                <a:ea typeface="David Libre"/>
                <a:cs typeface="David Libre"/>
                <a:sym typeface="David Libre"/>
              </a:rPr>
              <a:t>Quantify island effects with Differences-in-Differences (DD) Scores</a:t>
            </a:r>
            <a:endParaRPr>
              <a:solidFill>
                <a:srgbClr val="000000"/>
              </a:solidFill>
              <a:latin typeface="David Libre"/>
              <a:ea typeface="David Libre"/>
              <a:cs typeface="David Libre"/>
              <a:sym typeface="David Libre"/>
            </a:endParaRPr>
          </a:p>
          <a:p>
            <a:pPr indent="-317500" lvl="0" marL="457200" rtl="0" algn="l">
              <a:spcBef>
                <a:spcPts val="0"/>
              </a:spcBef>
              <a:spcAft>
                <a:spcPts val="0"/>
              </a:spcAft>
              <a:buClr>
                <a:srgbClr val="000000"/>
              </a:buClr>
              <a:buSzPts val="1400"/>
              <a:buFont typeface="David Libre"/>
              <a:buChar char="●"/>
            </a:pPr>
            <a:r>
              <a:rPr lang="en">
                <a:solidFill>
                  <a:srgbClr val="000000"/>
                </a:solidFill>
                <a:latin typeface="David Libre"/>
                <a:ea typeface="David Libre"/>
                <a:cs typeface="David Libre"/>
                <a:sym typeface="David Libre"/>
              </a:rPr>
              <a:t>Run simple linear regressions with DD scores as the dependent variable and working memory scores as the independent</a:t>
            </a:r>
            <a:endParaRPr>
              <a:solidFill>
                <a:srgbClr val="000000"/>
              </a:solidFill>
              <a:latin typeface="David Libre"/>
              <a:ea typeface="David Libre"/>
              <a:cs typeface="David Libre"/>
              <a:sym typeface="David Libre"/>
            </a:endParaRPr>
          </a:p>
          <a:p>
            <a:pPr indent="-317500" lvl="0" marL="457200" rtl="0" algn="l">
              <a:spcBef>
                <a:spcPts val="0"/>
              </a:spcBef>
              <a:spcAft>
                <a:spcPts val="0"/>
              </a:spcAft>
              <a:buClr>
                <a:srgbClr val="000000"/>
              </a:buClr>
              <a:buSzPts val="1400"/>
              <a:buFont typeface="David Libre"/>
              <a:buChar char="●"/>
            </a:pPr>
            <a:r>
              <a:rPr lang="en">
                <a:solidFill>
                  <a:srgbClr val="000000"/>
                </a:solidFill>
                <a:latin typeface="David Libre"/>
                <a:ea typeface="David Libre"/>
                <a:cs typeface="David Libre"/>
                <a:sym typeface="David Libre"/>
              </a:rPr>
              <a:t>Create linear mixed-effects regression models (LMERs) using Baayen’s methodology</a:t>
            </a:r>
            <a:endParaRPr>
              <a:solidFill>
                <a:srgbClr val="000000"/>
              </a:solidFill>
              <a:latin typeface="David Libre"/>
              <a:ea typeface="David Libre"/>
              <a:cs typeface="David Libre"/>
              <a:sym typeface="David Libre"/>
            </a:endParaRPr>
          </a:p>
          <a:p>
            <a:pPr indent="-317500" lvl="0" marL="457200" rtl="0" algn="l">
              <a:spcBef>
                <a:spcPts val="0"/>
              </a:spcBef>
              <a:spcAft>
                <a:spcPts val="0"/>
              </a:spcAft>
              <a:buClr>
                <a:srgbClr val="000000"/>
              </a:buClr>
              <a:buSzPts val="1400"/>
              <a:buFont typeface="David Libre"/>
              <a:buChar char="●"/>
            </a:pPr>
            <a:r>
              <a:rPr lang="en">
                <a:solidFill>
                  <a:srgbClr val="000000"/>
                </a:solidFill>
                <a:latin typeface="David Libre"/>
                <a:ea typeface="David Libre"/>
                <a:cs typeface="David Libre"/>
                <a:sym typeface="David Libre"/>
              </a:rPr>
              <a:t>Estimate p-values with the MCMC method (which we will not do)</a:t>
            </a:r>
            <a:endParaRPr>
              <a:solidFill>
                <a:srgbClr val="000000"/>
              </a:solidFill>
              <a:latin typeface="David Libre"/>
              <a:ea typeface="David Libre"/>
              <a:cs typeface="David Libre"/>
              <a:sym typeface="David Libre"/>
            </a:endParaRPr>
          </a:p>
          <a:p>
            <a:pPr indent="-317500" lvl="0" marL="457200" rtl="0" algn="l">
              <a:spcBef>
                <a:spcPts val="0"/>
              </a:spcBef>
              <a:spcAft>
                <a:spcPts val="0"/>
              </a:spcAft>
              <a:buClr>
                <a:srgbClr val="000000"/>
              </a:buClr>
              <a:buSzPts val="1400"/>
              <a:buFont typeface="David Libre"/>
              <a:buChar char="●"/>
            </a:pPr>
            <a:r>
              <a:rPr lang="en">
                <a:solidFill>
                  <a:srgbClr val="000000"/>
                </a:solidFill>
                <a:latin typeface="David Libre"/>
                <a:ea typeface="David Libre"/>
                <a:cs typeface="David Libre"/>
                <a:sym typeface="David Libre"/>
              </a:rPr>
              <a:t>Interpret Data!</a:t>
            </a:r>
            <a:endParaRPr>
              <a:solidFill>
                <a:srgbClr val="000000"/>
              </a:solidFill>
              <a:latin typeface="David Libre"/>
              <a:ea typeface="David Libre"/>
              <a:cs typeface="David Libre"/>
              <a:sym typeface="David Libre"/>
            </a:endParaRPr>
          </a:p>
        </p:txBody>
      </p:sp>
      <p:sp>
        <p:nvSpPr>
          <p:cNvPr id="129" name="Google Shape;129;p16"/>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David Libre"/>
                <a:ea typeface="David Libre"/>
                <a:cs typeface="David Libre"/>
                <a:sym typeface="David Libre"/>
              </a:rPr>
              <a:t>It’s worth noting that Sprouse’s study is 13 years old, so the methodology is a little dated. Here’s what we will use instead:</a:t>
            </a:r>
            <a:endParaRPr>
              <a:solidFill>
                <a:srgbClr val="000000"/>
              </a:solidFill>
              <a:latin typeface="David Libre"/>
              <a:ea typeface="David Libre"/>
              <a:cs typeface="David Libre"/>
              <a:sym typeface="David Libre"/>
            </a:endParaRPr>
          </a:p>
          <a:p>
            <a:pPr indent="-317500" lvl="0" marL="457200" rtl="0" algn="l">
              <a:spcBef>
                <a:spcPts val="1600"/>
              </a:spcBef>
              <a:spcAft>
                <a:spcPts val="0"/>
              </a:spcAft>
              <a:buClr>
                <a:srgbClr val="000000"/>
              </a:buClr>
              <a:buSzPts val="1400"/>
              <a:buFont typeface="David Libre"/>
              <a:buChar char="●"/>
            </a:pPr>
            <a:r>
              <a:rPr lang="en">
                <a:solidFill>
                  <a:srgbClr val="000000"/>
                </a:solidFill>
                <a:latin typeface="David Libre"/>
                <a:ea typeface="David Libre"/>
                <a:cs typeface="David Libre"/>
                <a:sym typeface="David Libre"/>
              </a:rPr>
              <a:t>The lme4 package</a:t>
            </a:r>
            <a:endParaRPr>
              <a:solidFill>
                <a:srgbClr val="000000"/>
              </a:solidFill>
              <a:latin typeface="David Libre"/>
              <a:ea typeface="David Libre"/>
              <a:cs typeface="David Libre"/>
              <a:sym typeface="David Libre"/>
            </a:endParaRPr>
          </a:p>
          <a:p>
            <a:pPr indent="-317500" lvl="0" marL="457200" rtl="0" algn="l">
              <a:spcBef>
                <a:spcPts val="0"/>
              </a:spcBef>
              <a:spcAft>
                <a:spcPts val="0"/>
              </a:spcAft>
              <a:buClr>
                <a:srgbClr val="000000"/>
              </a:buClr>
              <a:buSzPts val="1400"/>
              <a:buFont typeface="David Libre"/>
              <a:buChar char="●"/>
            </a:pPr>
            <a:r>
              <a:rPr lang="en">
                <a:solidFill>
                  <a:srgbClr val="000000"/>
                </a:solidFill>
                <a:latin typeface="David Libre"/>
                <a:ea typeface="David Libre"/>
                <a:cs typeface="David Libre"/>
                <a:sym typeface="David Libre"/>
              </a:rPr>
              <a:t>Newer lmer </a:t>
            </a:r>
            <a:r>
              <a:rPr lang="en">
                <a:solidFill>
                  <a:srgbClr val="000000"/>
                </a:solidFill>
                <a:latin typeface="David Libre"/>
                <a:ea typeface="David Libre"/>
                <a:cs typeface="David Libre"/>
                <a:sym typeface="David Libre"/>
              </a:rPr>
              <a:t>methodology</a:t>
            </a:r>
            <a:endParaRPr>
              <a:solidFill>
                <a:srgbClr val="000000"/>
              </a:solidFill>
              <a:latin typeface="David Libre"/>
              <a:ea typeface="David Libre"/>
              <a:cs typeface="David Libre"/>
              <a:sym typeface="David Libre"/>
            </a:endParaRPr>
          </a:p>
          <a:p>
            <a:pPr indent="-317500" lvl="0" marL="457200" rtl="0" algn="l">
              <a:spcBef>
                <a:spcPts val="0"/>
              </a:spcBef>
              <a:spcAft>
                <a:spcPts val="0"/>
              </a:spcAft>
              <a:buClr>
                <a:srgbClr val="000000"/>
              </a:buClr>
              <a:buSzPts val="1400"/>
              <a:buFont typeface="David Libre"/>
              <a:buChar char="●"/>
            </a:pPr>
            <a:r>
              <a:rPr lang="en">
                <a:solidFill>
                  <a:srgbClr val="000000"/>
                </a:solidFill>
                <a:latin typeface="David Libre"/>
                <a:ea typeface="David Libre"/>
                <a:cs typeface="David Libre"/>
                <a:sym typeface="David Libre"/>
              </a:rPr>
              <a:t>However, the apparent best practice now is to use cumulative link mixed-effects models (</a:t>
            </a:r>
            <a:r>
              <a:rPr lang="en">
                <a:solidFill>
                  <a:srgbClr val="000000"/>
                </a:solidFill>
                <a:latin typeface="David Libre"/>
                <a:ea typeface="David Libre"/>
                <a:cs typeface="David Libre"/>
                <a:sym typeface="David Libre"/>
              </a:rPr>
              <a:t>CLMMs</a:t>
            </a:r>
            <a:r>
              <a:rPr lang="en">
                <a:solidFill>
                  <a:srgbClr val="000000"/>
                </a:solidFill>
                <a:latin typeface="David Libre"/>
                <a:ea typeface="David Libre"/>
                <a:cs typeface="David Libre"/>
                <a:sym typeface="David Libre"/>
              </a:rPr>
              <a:t>) </a:t>
            </a:r>
            <a:endParaRPr>
              <a:solidFill>
                <a:srgbClr val="000000"/>
              </a:solidFill>
              <a:latin typeface="David Libre"/>
              <a:ea typeface="David Libre"/>
              <a:cs typeface="David Libre"/>
              <a:sym typeface="David Libre"/>
            </a:endParaRPr>
          </a:p>
          <a:p>
            <a:pPr indent="-317500" lvl="0" marL="457200" rtl="0" algn="l">
              <a:spcBef>
                <a:spcPts val="0"/>
              </a:spcBef>
              <a:spcAft>
                <a:spcPts val="0"/>
              </a:spcAft>
              <a:buClr>
                <a:srgbClr val="000000"/>
              </a:buClr>
              <a:buSzPts val="1400"/>
              <a:buFont typeface="David Libre"/>
              <a:buChar char="●"/>
            </a:pPr>
            <a:r>
              <a:rPr lang="en">
                <a:solidFill>
                  <a:srgbClr val="000000"/>
                </a:solidFill>
                <a:latin typeface="David Libre"/>
                <a:ea typeface="David Libre"/>
                <a:cs typeface="David Libre"/>
                <a:sym typeface="David Libre"/>
              </a:rPr>
              <a:t>Assumption tests</a:t>
            </a:r>
            <a:endParaRPr>
              <a:solidFill>
                <a:srgbClr val="000000"/>
              </a:solidFill>
              <a:latin typeface="David Libre"/>
              <a:ea typeface="David Libre"/>
              <a:cs typeface="David Libre"/>
              <a:sym typeface="David Libr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7"/>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Analysis and Findings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ph type="title"/>
          </p:nvPr>
        </p:nvSpPr>
        <p:spPr>
          <a:xfrm>
            <a:off x="311700" y="555600"/>
            <a:ext cx="32232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Taviraj"/>
                <a:ea typeface="Taviraj"/>
                <a:cs typeface="Taviraj"/>
                <a:sym typeface="Taviraj"/>
              </a:rPr>
              <a:t>Look</a:t>
            </a:r>
            <a:r>
              <a:rPr lang="en">
                <a:latin typeface="Taviraj"/>
                <a:ea typeface="Taviraj"/>
                <a:cs typeface="Taviraj"/>
                <a:sym typeface="Taviraj"/>
              </a:rPr>
              <a:t>ing at Our Data</a:t>
            </a:r>
            <a:endParaRPr>
              <a:latin typeface="Taviraj"/>
              <a:ea typeface="Taviraj"/>
              <a:cs typeface="Taviraj"/>
              <a:sym typeface="Taviraj"/>
            </a:endParaRPr>
          </a:p>
        </p:txBody>
      </p:sp>
      <p:sp>
        <p:nvSpPr>
          <p:cNvPr id="140" name="Google Shape;140;p18"/>
          <p:cNvSpPr txBox="1"/>
          <p:nvPr>
            <p:ph idx="1" type="body"/>
          </p:nvPr>
        </p:nvSpPr>
        <p:spPr>
          <a:xfrm>
            <a:off x="311700" y="1465800"/>
            <a:ext cx="3538800" cy="310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I began this assignment, I had to analyze these data for my psycholinguistics course. We will briefly evaluate those tables before continuing.</a:t>
            </a:r>
            <a:endParaRPr/>
          </a:p>
          <a:p>
            <a:pPr indent="0" lvl="0" marL="0" rtl="0" algn="l">
              <a:spcBef>
                <a:spcPts val="1600"/>
              </a:spcBef>
              <a:spcAft>
                <a:spcPts val="1600"/>
              </a:spcAft>
              <a:buNone/>
            </a:pPr>
            <a:r>
              <a:t/>
            </a:r>
            <a:endParaRPr/>
          </a:p>
        </p:txBody>
      </p:sp>
      <p:pic>
        <p:nvPicPr>
          <p:cNvPr id="141" name="Google Shape;141;p18"/>
          <p:cNvPicPr preferRelativeResize="0"/>
          <p:nvPr/>
        </p:nvPicPr>
        <p:blipFill rotWithShape="1">
          <a:blip r:embed="rId3">
            <a:alphaModFix/>
          </a:blip>
          <a:srcRect b="62022" l="1781" r="75962" t="14482"/>
          <a:stretch/>
        </p:blipFill>
        <p:spPr>
          <a:xfrm>
            <a:off x="5145025" y="1408700"/>
            <a:ext cx="2320375" cy="1372525"/>
          </a:xfrm>
          <a:prstGeom prst="rect">
            <a:avLst/>
          </a:prstGeom>
          <a:noFill/>
          <a:ln>
            <a:noFill/>
          </a:ln>
        </p:spPr>
      </p:pic>
      <p:pic>
        <p:nvPicPr>
          <p:cNvPr id="142" name="Google Shape;142;p18"/>
          <p:cNvPicPr preferRelativeResize="0"/>
          <p:nvPr/>
        </p:nvPicPr>
        <p:blipFill rotWithShape="1">
          <a:blip r:embed="rId4">
            <a:alphaModFix/>
          </a:blip>
          <a:srcRect b="26418" l="32312" r="48341" t="29655"/>
          <a:stretch/>
        </p:blipFill>
        <p:spPr>
          <a:xfrm>
            <a:off x="5184825" y="2781226"/>
            <a:ext cx="1713226" cy="2187875"/>
          </a:xfrm>
          <a:prstGeom prst="rect">
            <a:avLst/>
          </a:prstGeom>
          <a:noFill/>
          <a:ln>
            <a:noFill/>
          </a:ln>
        </p:spPr>
      </p:pic>
      <p:pic>
        <p:nvPicPr>
          <p:cNvPr id="143" name="Google Shape;143;p18"/>
          <p:cNvPicPr preferRelativeResize="0"/>
          <p:nvPr/>
        </p:nvPicPr>
        <p:blipFill>
          <a:blip r:embed="rId5">
            <a:alphaModFix/>
          </a:blip>
          <a:stretch>
            <a:fillRect/>
          </a:stretch>
        </p:blipFill>
        <p:spPr>
          <a:xfrm>
            <a:off x="770284" y="2400599"/>
            <a:ext cx="2621625" cy="2374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Assumption Checks</a:t>
            </a:r>
            <a:endParaRPr/>
          </a:p>
        </p:txBody>
      </p:sp>
      <p:sp>
        <p:nvSpPr>
          <p:cNvPr id="149" name="Google Shape;149;p19"/>
          <p:cNvSpPr txBox="1"/>
          <p:nvPr>
            <p:ph idx="1" type="body"/>
          </p:nvPr>
        </p:nvSpPr>
        <p:spPr>
          <a:xfrm>
            <a:off x="348075" y="1435479"/>
            <a:ext cx="2808000" cy="3103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Here, we check our lmer for linearity,  homoscedasticity, normality, and multicollinearity. Looks fine!</a:t>
            </a:r>
            <a:endParaRPr/>
          </a:p>
        </p:txBody>
      </p:sp>
      <p:pic>
        <p:nvPicPr>
          <p:cNvPr id="150" name="Google Shape;150;p19"/>
          <p:cNvPicPr preferRelativeResize="0"/>
          <p:nvPr/>
        </p:nvPicPr>
        <p:blipFill rotWithShape="1">
          <a:blip r:embed="rId3">
            <a:alphaModFix/>
          </a:blip>
          <a:srcRect b="6839" l="58894" r="1763" t="20013"/>
          <a:stretch/>
        </p:blipFill>
        <p:spPr>
          <a:xfrm>
            <a:off x="4572001" y="877002"/>
            <a:ext cx="3451450" cy="3609622"/>
          </a:xfrm>
          <a:prstGeom prst="rect">
            <a:avLst/>
          </a:prstGeom>
          <a:noFill/>
          <a:ln>
            <a:noFill/>
          </a:ln>
        </p:spPr>
      </p:pic>
      <p:pic>
        <p:nvPicPr>
          <p:cNvPr id="151" name="Google Shape;151;p19"/>
          <p:cNvPicPr preferRelativeResize="0"/>
          <p:nvPr/>
        </p:nvPicPr>
        <p:blipFill rotWithShape="1">
          <a:blip r:embed="rId4">
            <a:alphaModFix/>
          </a:blip>
          <a:srcRect b="6909" l="58848" r="0" t="19981"/>
          <a:stretch/>
        </p:blipFill>
        <p:spPr>
          <a:xfrm>
            <a:off x="554950" y="2133213"/>
            <a:ext cx="2601125" cy="259943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Taviraj"/>
                <a:ea typeface="Taviraj"/>
                <a:cs typeface="Taviraj"/>
                <a:sym typeface="Taviraj"/>
              </a:rPr>
              <a:t>Final Model!</a:t>
            </a:r>
            <a:endParaRPr>
              <a:latin typeface="Taviraj"/>
              <a:ea typeface="Taviraj"/>
              <a:cs typeface="Taviraj"/>
              <a:sym typeface="Taviraj"/>
            </a:endParaRPr>
          </a:p>
        </p:txBody>
      </p:sp>
      <p:sp>
        <p:nvSpPr>
          <p:cNvPr id="157" name="Google Shape;157;p20"/>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David Libre"/>
                <a:ea typeface="David Libre"/>
                <a:cs typeface="David Libre"/>
                <a:sym typeface="David Libre"/>
              </a:rPr>
              <a:t>We can see clearly that there is a preference for the non-island, whether, matrix sentence type, but not for the whether type overall. Great success!</a:t>
            </a:r>
            <a:endParaRPr sz="1600">
              <a:latin typeface="David Libre"/>
              <a:ea typeface="David Libre"/>
              <a:cs typeface="David Libre"/>
              <a:sym typeface="David Libre"/>
            </a:endParaRPr>
          </a:p>
          <a:p>
            <a:pPr indent="0" lvl="0" marL="0" rtl="0" algn="l">
              <a:spcBef>
                <a:spcPts val="1600"/>
              </a:spcBef>
              <a:spcAft>
                <a:spcPts val="1600"/>
              </a:spcAft>
              <a:buNone/>
            </a:pPr>
            <a:r>
              <a:t/>
            </a:r>
            <a:endParaRPr sz="1600">
              <a:latin typeface="David Libre"/>
              <a:ea typeface="David Libre"/>
              <a:cs typeface="David Libre"/>
              <a:sym typeface="David Libre"/>
            </a:endParaRPr>
          </a:p>
        </p:txBody>
      </p:sp>
      <p:pic>
        <p:nvPicPr>
          <p:cNvPr id="158" name="Google Shape;158;p20"/>
          <p:cNvPicPr preferRelativeResize="0"/>
          <p:nvPr/>
        </p:nvPicPr>
        <p:blipFill rotWithShape="1">
          <a:blip r:embed="rId3">
            <a:alphaModFix/>
          </a:blip>
          <a:srcRect b="6085" l="59318" r="0" t="18879"/>
          <a:stretch/>
        </p:blipFill>
        <p:spPr>
          <a:xfrm>
            <a:off x="4602500" y="753750"/>
            <a:ext cx="2929627" cy="3039425"/>
          </a:xfrm>
          <a:prstGeom prst="rect">
            <a:avLst/>
          </a:prstGeom>
          <a:noFill/>
          <a:ln>
            <a:noFill/>
          </a:ln>
        </p:spPr>
      </p:pic>
      <p:sp>
        <p:nvSpPr>
          <p:cNvPr id="159" name="Google Shape;159;p20"/>
          <p:cNvSpPr txBox="1"/>
          <p:nvPr/>
        </p:nvSpPr>
        <p:spPr>
          <a:xfrm>
            <a:off x="4129400" y="3793175"/>
            <a:ext cx="4227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oboto"/>
                <a:ea typeface="Roboto"/>
                <a:cs typeface="Roboto"/>
                <a:sym typeface="Roboto"/>
              </a:rPr>
              <a:t>lmer code:</a:t>
            </a:r>
            <a:endParaRPr>
              <a:solidFill>
                <a:schemeClr val="dk2"/>
              </a:solidFill>
              <a:latin typeface="Roboto"/>
              <a:ea typeface="Roboto"/>
              <a:cs typeface="Roboto"/>
              <a:sym typeface="Roboto"/>
            </a:endParaRPr>
          </a:p>
          <a:p>
            <a:pPr indent="0" lvl="0" marL="0" rtl="0" algn="l">
              <a:spcBef>
                <a:spcPts val="0"/>
              </a:spcBef>
              <a:spcAft>
                <a:spcPts val="0"/>
              </a:spcAft>
              <a:buNone/>
            </a:pPr>
            <a:r>
              <a:rPr lang="en">
                <a:solidFill>
                  <a:schemeClr val="dk2"/>
                </a:solidFill>
                <a:latin typeface="Roboto"/>
                <a:ea typeface="Roboto"/>
                <a:cs typeface="Roboto"/>
                <a:sym typeface="Roboto"/>
              </a:rPr>
              <a:t>model1 &lt;- lmer(Rating ~ StructureType  * IslandType + GapPosition + (1 | Subject) + (1 | Item), data = data_filtered)</a:t>
            </a:r>
            <a:endParaRPr>
              <a:solidFill>
                <a:schemeClr val="dk2"/>
              </a:solidFill>
              <a:latin typeface="Roboto"/>
              <a:ea typeface="Roboto"/>
              <a:cs typeface="Roboto"/>
              <a:sym typeface="Roboto"/>
            </a:endParaRPr>
          </a:p>
        </p:txBody>
      </p:sp>
      <p:pic>
        <p:nvPicPr>
          <p:cNvPr id="160" name="Google Shape;160;p20"/>
          <p:cNvPicPr preferRelativeResize="0"/>
          <p:nvPr/>
        </p:nvPicPr>
        <p:blipFill rotWithShape="1">
          <a:blip r:embed="rId4">
            <a:alphaModFix/>
          </a:blip>
          <a:srcRect b="9521" l="-926" r="47076" t="70668"/>
          <a:stretch/>
        </p:blipFill>
        <p:spPr>
          <a:xfrm>
            <a:off x="144375" y="3491875"/>
            <a:ext cx="3936475" cy="10467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Citations </a:t>
            </a:r>
            <a:endParaRPr/>
          </a:p>
        </p:txBody>
      </p:sp>
      <p:sp>
        <p:nvSpPr>
          <p:cNvPr id="166" name="Google Shape;166;p21"/>
          <p:cNvSpPr txBox="1"/>
          <p:nvPr>
            <p:ph idx="1" type="body"/>
          </p:nvPr>
        </p:nvSpPr>
        <p:spPr>
          <a:xfrm>
            <a:off x="311700" y="1465800"/>
            <a:ext cx="7978500" cy="3103200"/>
          </a:xfrm>
          <a:prstGeom prst="rect">
            <a:avLst/>
          </a:prstGeom>
        </p:spPr>
        <p:txBody>
          <a:bodyPr anchorCtr="0" anchor="t" bIns="91425" lIns="91425" spcFirstLastPara="1" rIns="91425" wrap="square" tIns="91425">
            <a:noAutofit/>
          </a:bodyPr>
          <a:lstStyle/>
          <a:p>
            <a:pPr indent="-457200" lvl="0" marL="457200" marR="249707" rtl="0" algn="l">
              <a:lnSpc>
                <a:spcPct val="200000"/>
              </a:lnSpc>
              <a:spcBef>
                <a:spcPts val="1165"/>
              </a:spcBef>
              <a:spcAft>
                <a:spcPts val="0"/>
              </a:spcAft>
              <a:buNone/>
            </a:pPr>
            <a:r>
              <a:rPr lang="en">
                <a:solidFill>
                  <a:srgbClr val="000000"/>
                </a:solidFill>
                <a:latin typeface="Times New Roman"/>
                <a:ea typeface="Times New Roman"/>
                <a:cs typeface="Times New Roman"/>
                <a:sym typeface="Times New Roman"/>
              </a:rPr>
              <a:t>Sprouse, J., Wagers, M., &amp; Phillips, C. (2012). A test of the relation between working-memory capacity and  syntactic island effects. </a:t>
            </a:r>
            <a:r>
              <a:rPr i="1" lang="en">
                <a:solidFill>
                  <a:srgbClr val="000000"/>
                </a:solidFill>
                <a:latin typeface="Times New Roman"/>
                <a:ea typeface="Times New Roman"/>
                <a:cs typeface="Times New Roman"/>
                <a:sym typeface="Times New Roman"/>
              </a:rPr>
              <a:t>Language</a:t>
            </a:r>
            <a:r>
              <a:rPr lang="en">
                <a:solidFill>
                  <a:srgbClr val="000000"/>
                </a:solidFill>
                <a:latin typeface="Times New Roman"/>
                <a:ea typeface="Times New Roman"/>
                <a:cs typeface="Times New Roman"/>
                <a:sym typeface="Times New Roman"/>
              </a:rPr>
              <a:t>, </a:t>
            </a:r>
            <a:r>
              <a:rPr i="1" lang="en">
                <a:solidFill>
                  <a:srgbClr val="000000"/>
                </a:solidFill>
                <a:latin typeface="Times New Roman"/>
                <a:ea typeface="Times New Roman"/>
                <a:cs typeface="Times New Roman"/>
                <a:sym typeface="Times New Roman"/>
              </a:rPr>
              <a:t>88</a:t>
            </a:r>
            <a:r>
              <a:rPr lang="en">
                <a:solidFill>
                  <a:srgbClr val="000000"/>
                </a:solidFill>
                <a:latin typeface="Times New Roman"/>
                <a:ea typeface="Times New Roman"/>
                <a:cs typeface="Times New Roman"/>
                <a:sym typeface="Times New Roman"/>
              </a:rPr>
              <a:t>(1), 82–123. https://doi.org/10.1353/lan.2012.0004.</a:t>
            </a:r>
            <a:endParaRPr>
              <a:solidFill>
                <a:srgbClr val="000000"/>
              </a:solidFill>
              <a:latin typeface="Times New Roman"/>
              <a:ea typeface="Times New Roman"/>
              <a:cs typeface="Times New Roman"/>
              <a:sym typeface="Times New Roman"/>
            </a:endParaRPr>
          </a:p>
          <a:p>
            <a:pPr indent="457200" lvl="0" marL="0" rtl="0" algn="l">
              <a:lnSpc>
                <a:spcPct val="100000"/>
              </a:lnSpc>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0" rtl="0" algn="l">
              <a:spcBef>
                <a:spcPts val="8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Thanks for Listening!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